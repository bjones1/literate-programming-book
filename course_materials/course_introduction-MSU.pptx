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2" r:id="rId7"/>
    <p:sldId id="265" r:id="rId8"/>
    <p:sldId id="266" r:id="rId9"/>
    <p:sldId id="261" r:id="rId10"/>
    <p:sldId id="264"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2122" autoAdjust="0"/>
  </p:normalViewPr>
  <p:slideViewPr>
    <p:cSldViewPr snapToGrid="0">
      <p:cViewPr varScale="1">
        <p:scale>
          <a:sx n="85" d="100"/>
          <a:sy n="85" d="100"/>
        </p:scale>
        <p:origin x="992" y="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19367-86BA-4309-A616-F1157F40D5F6}"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5337CF-9DF5-484C-9491-9B121B783B92}" type="slidenum">
              <a:rPr lang="en-US" smtClean="0"/>
              <a:t>‹#›</a:t>
            </a:fld>
            <a:endParaRPr lang="en-US"/>
          </a:p>
        </p:txBody>
      </p:sp>
    </p:spTree>
    <p:extLst>
      <p:ext uri="{BB962C8B-B14F-4D97-AF65-F5344CB8AC3E}">
        <p14:creationId xmlns:p14="http://schemas.microsoft.com/office/powerpoint/2010/main" val="3003162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5337CF-9DF5-484C-9491-9B121B783B92}" type="slidenum">
              <a:rPr lang="en-US" smtClean="0"/>
              <a:t>5</a:t>
            </a:fld>
            <a:endParaRPr lang="en-US"/>
          </a:p>
        </p:txBody>
      </p:sp>
    </p:spTree>
    <p:extLst>
      <p:ext uri="{BB962C8B-B14F-4D97-AF65-F5344CB8AC3E}">
        <p14:creationId xmlns:p14="http://schemas.microsoft.com/office/powerpoint/2010/main" val="4053473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gn="l">
              <a:buNone/>
            </a:pPr>
            <a:r>
              <a:rPr lang="en-US" b="0" i="0" dirty="0">
                <a:solidFill>
                  <a:srgbClr val="000000"/>
                </a:solidFill>
                <a:effectLst/>
                <a:latin typeface="Times New Roman" panose="02020603050405020304" pitchFamily="18" charset="0"/>
              </a:rPr>
              <a:t>“Before we get started with class, I want to take a minute to go over basic emergency procedures, so you know what to do if something happens.</a:t>
            </a:r>
          </a:p>
          <a:p>
            <a:pPr indent="0" algn="l">
              <a:buNone/>
            </a:pPr>
            <a:endParaRPr lang="en-US" b="0" i="0" dirty="0">
              <a:solidFill>
                <a:srgbClr val="000000"/>
              </a:solidFill>
              <a:effectLst/>
              <a:latin typeface="Times New Roman" panose="02020603050405020304" pitchFamily="18" charset="0"/>
            </a:endParaRPr>
          </a:p>
          <a:p>
            <a:pPr indent="0" algn="l">
              <a:buNone/>
            </a:pPr>
            <a:r>
              <a:rPr lang="en-US" b="0" i="0" dirty="0">
                <a:solidFill>
                  <a:srgbClr val="000000"/>
                </a:solidFill>
                <a:effectLst/>
                <a:latin typeface="Times New Roman" panose="02020603050405020304" pitchFamily="18" charset="0"/>
              </a:rPr>
              <a:t>If there is a fire alarm, you should treat it as real every time. Go ahead and evacuate the building immediately using the nearest exit—don’t use elevators. Once outside, move a safe distance away from the building so emergency responders can do their job. We will meet at the reunification point outside the building.”</a:t>
            </a:r>
          </a:p>
          <a:p>
            <a:pPr indent="0" algn="l">
              <a:buNone/>
            </a:pPr>
            <a:endParaRPr lang="en-US" b="0" i="0" dirty="0">
              <a:solidFill>
                <a:srgbClr val="000000"/>
              </a:solidFill>
              <a:effectLst/>
              <a:latin typeface="Times New Roman" panose="02020603050405020304" pitchFamily="18" charset="0"/>
            </a:endParaRPr>
          </a:p>
          <a:p>
            <a:pPr indent="0" algn="l">
              <a:buNone/>
            </a:pPr>
            <a:r>
              <a:rPr lang="en-US" b="0" i="0" dirty="0">
                <a:solidFill>
                  <a:srgbClr val="000000"/>
                </a:solidFill>
                <a:effectLst/>
                <a:latin typeface="Times New Roman" panose="02020603050405020304" pitchFamily="18" charset="0"/>
              </a:rPr>
              <a:t>(We have included a list of several classroom buildings along with their reunification areas and severe weather areas. Please share these locations with your class. This information and more are available in your Building Emergency Action Plan, or BEAP.)</a:t>
            </a:r>
          </a:p>
          <a:p>
            <a:pPr indent="0" algn="l">
              <a:buNone/>
            </a:pPr>
            <a:endParaRPr lang="en-US" b="0" i="0" dirty="0">
              <a:solidFill>
                <a:srgbClr val="000000"/>
              </a:solidFill>
              <a:effectLst/>
              <a:latin typeface="Times New Roman" panose="02020603050405020304" pitchFamily="18" charset="0"/>
            </a:endParaRPr>
          </a:p>
          <a:p>
            <a:pPr indent="0" algn="l">
              <a:buNone/>
            </a:pPr>
            <a:r>
              <a:rPr lang="en-US" b="0" i="0" dirty="0">
                <a:solidFill>
                  <a:srgbClr val="000000"/>
                </a:solidFill>
                <a:effectLst/>
                <a:latin typeface="Times New Roman" panose="02020603050405020304" pitchFamily="18" charset="0"/>
              </a:rPr>
              <a:t>“If we receive a tornado warning, take shelter right away. We’ll move to an interior hallway or room on the lowest floor, away from windows and doors. Stay safe and follow updates”</a:t>
            </a:r>
          </a:p>
          <a:p>
            <a:pPr indent="0" algn="l">
              <a:buNone/>
            </a:pPr>
            <a:endParaRPr lang="en-US" b="0" i="0" dirty="0">
              <a:solidFill>
                <a:srgbClr val="000000"/>
              </a:solidFill>
              <a:effectLst/>
              <a:latin typeface="Times New Roman" panose="02020603050405020304" pitchFamily="18" charset="0"/>
            </a:endParaRPr>
          </a:p>
          <a:p>
            <a:pPr indent="0" algn="l">
              <a:buNone/>
            </a:pPr>
            <a:r>
              <a:rPr lang="en-US" b="0" i="0" dirty="0">
                <a:solidFill>
                  <a:srgbClr val="000000"/>
                </a:solidFill>
                <a:effectLst/>
                <a:latin typeface="Times New Roman" panose="02020603050405020304" pitchFamily="18" charset="0"/>
              </a:rPr>
              <a:t>(We have included a list of several classroom buildings along with their reunification areas and severe weather areas. Please share these locations with your class. This information and more are available in your Building Emergency Action Plan, or BEAP.)</a:t>
            </a:r>
          </a:p>
        </p:txBody>
      </p:sp>
      <p:sp>
        <p:nvSpPr>
          <p:cNvPr id="4" name="Slide Number Placeholder 3"/>
          <p:cNvSpPr>
            <a:spLocks noGrp="1"/>
          </p:cNvSpPr>
          <p:nvPr>
            <p:ph type="sldNum" sz="quarter" idx="5"/>
          </p:nvPr>
        </p:nvSpPr>
        <p:spPr/>
        <p:txBody>
          <a:bodyPr/>
          <a:lstStyle/>
          <a:p>
            <a:fld id="{7B9D708B-9756-40E4-ADDF-604C21005D1C}" type="slidenum">
              <a:rPr lang="en-US" smtClean="0"/>
              <a:t>7</a:t>
            </a:fld>
            <a:endParaRPr lang="en-US"/>
          </a:p>
        </p:txBody>
      </p:sp>
    </p:spTree>
    <p:extLst>
      <p:ext uri="{BB962C8B-B14F-4D97-AF65-F5344CB8AC3E}">
        <p14:creationId xmlns:p14="http://schemas.microsoft.com/office/powerpoint/2010/main" val="3392461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also want to briefly cover what to do in more serious situations.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event of an active attacker situation, follow instructions from Maroon Alert. We follow the Avoid, Deny, Defend model. First, avoid—Get to safety, if possible. If you can’t leave, then deny access—lock or barricade doors, turn off lights, stay quiet, and silence your phones. As a last resort, defend yourself by acting decisively to stop the threat if your life is in immediate danger.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a medical emergency, call 911 right away. Be ready to tell them exactly where you are—building and room number—and what’s happening. Avoid moving the person unless it’s necessary. If you’re trained, you can provide first aid, CPR, or use an AED until help arrives. If possible, have someone go meet emergency responders and guide them to the location.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Lastly, stay informed.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Make sure you are registered for Maroon Alerts – the university’s official emergency notifications system. They will send out a test each semester.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To learn more, scan the QR code or visit emergency.msstate.edu for emergency response guides, videos, and Maroon Alert information. You can also follow @MaroonAlert on X to stay informed of updates. So stay safe and always be prepared to respond.</a:t>
            </a:r>
          </a:p>
        </p:txBody>
      </p:sp>
      <p:sp>
        <p:nvSpPr>
          <p:cNvPr id="4" name="Slide Number Placeholder 3"/>
          <p:cNvSpPr>
            <a:spLocks noGrp="1"/>
          </p:cNvSpPr>
          <p:nvPr>
            <p:ph type="sldNum" sz="quarter" idx="5"/>
          </p:nvPr>
        </p:nvSpPr>
        <p:spPr/>
        <p:txBody>
          <a:bodyPr/>
          <a:lstStyle/>
          <a:p>
            <a:fld id="{7B9D708B-9756-40E4-ADDF-604C21005D1C}" type="slidenum">
              <a:rPr lang="en-US" smtClean="0"/>
              <a:t>8</a:t>
            </a:fld>
            <a:endParaRPr lang="en-US"/>
          </a:p>
        </p:txBody>
      </p:sp>
    </p:spTree>
    <p:extLst>
      <p:ext uri="{BB962C8B-B14F-4D97-AF65-F5344CB8AC3E}">
        <p14:creationId xmlns:p14="http://schemas.microsoft.com/office/powerpoint/2010/main" val="42557086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C548-9CF3-5858-73AC-5C74421EF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170252-FE84-2805-0358-1AE2A82D74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E7731E-B22E-687E-F5F8-4E91E61474FA}"/>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BD14807A-68BD-216B-4413-2042400A66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4821B-F0B5-536B-DAC3-DF12A59A25AD}"/>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3969976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22F5-B4C4-4CBB-AC1D-776D49B46C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A2D148-9D3D-0C16-7612-A4B9E3CCC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25E9A4-0738-F4C2-6D59-5B186994985A}"/>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A3D92113-9A97-31F6-D675-F170E2F6D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5D8384-763A-16F0-C806-83B6003A8992}"/>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2165470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F42B-2CBE-EAD8-6B26-33D7B9A3CE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0EBFD2-FEAD-A901-A5C2-0C52CF24CD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E59491-477B-CA09-141C-CF099E08CA24}"/>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424D3A86-4874-5E3A-FCFF-F72A3B2372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A7CE5-83B4-AE91-D06A-F5F0AECB8EB4}"/>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353541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2EE9-12DF-F2A9-3AD5-484626A325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1E3F31-6E79-CDC8-236B-4E9DA4FF5B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CD4D96-EC9C-5265-29F3-56092E2AD7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D4D56D6-5F28-AA32-E110-071251883B84}"/>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6" name="Footer Placeholder 5">
            <a:extLst>
              <a:ext uri="{FF2B5EF4-FFF2-40B4-BE49-F238E27FC236}">
                <a16:creationId xmlns:a16="http://schemas.microsoft.com/office/drawing/2014/main" id="{B935C6A1-228F-E415-FFD4-796D55C3E5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678FDF-FD19-A527-573C-DD568786C84E}"/>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1896074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676F4-ED60-EFC0-0983-196217AA5E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B780DE-B993-2C16-C776-93FDAB3748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03F81A-50E0-A960-4B71-5C28E7DFAE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99F780-C91B-7996-298A-381B890DEA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1BF50E-8407-2577-45D9-BA4F92E3AC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2A923B-E7AA-D171-A16B-EDBD5FF70F9B}"/>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8" name="Footer Placeholder 7">
            <a:extLst>
              <a:ext uri="{FF2B5EF4-FFF2-40B4-BE49-F238E27FC236}">
                <a16:creationId xmlns:a16="http://schemas.microsoft.com/office/drawing/2014/main" id="{EF65A4C6-6C6E-F0E1-8D4D-DF8E46BC18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54158A-6A43-3856-9EC6-20141D1CEAAF}"/>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581399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C4333-6F3D-264E-8D69-05D0CB022E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0E6D31A-6F25-99F0-C43C-ADC713CA05E3}"/>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4" name="Footer Placeholder 3">
            <a:extLst>
              <a:ext uri="{FF2B5EF4-FFF2-40B4-BE49-F238E27FC236}">
                <a16:creationId xmlns:a16="http://schemas.microsoft.com/office/drawing/2014/main" id="{112AD7DC-891E-93CF-0936-8228D55EF3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808793-DFA7-B1E5-FED9-C9152838FFBE}"/>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3888365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D26460-37AF-0DD2-9B40-36ABE9058BAD}"/>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3" name="Footer Placeholder 2">
            <a:extLst>
              <a:ext uri="{FF2B5EF4-FFF2-40B4-BE49-F238E27FC236}">
                <a16:creationId xmlns:a16="http://schemas.microsoft.com/office/drawing/2014/main" id="{E7427306-F89C-D84C-8562-828762C9B7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2ECC5-EB32-76D4-B7FC-F521938D0C92}"/>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24402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68DB7-B6DA-FEA5-97C5-C2996B173E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7714E2-703C-8D1E-AC8F-D658B3A953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3DCC54E-0F3D-0A4C-D502-F1DB2CE76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EC5DDB-281E-5C98-D8B2-59E9A6E3D192}"/>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6" name="Footer Placeholder 5">
            <a:extLst>
              <a:ext uri="{FF2B5EF4-FFF2-40B4-BE49-F238E27FC236}">
                <a16:creationId xmlns:a16="http://schemas.microsoft.com/office/drawing/2014/main" id="{2069986C-6DB8-4663-3167-34C311497F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BAF8D-7278-BBAB-30BB-613CEF050F63}"/>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134233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A3ED4-894B-AFE4-3A1A-360B7238D9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147E22-FA47-D1AC-147A-18B3EA9143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162924-6927-E947-7FB3-13CECCD7BB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F5CD18-9567-6281-0C71-25DBAE6E5FA3}"/>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6" name="Footer Placeholder 5">
            <a:extLst>
              <a:ext uri="{FF2B5EF4-FFF2-40B4-BE49-F238E27FC236}">
                <a16:creationId xmlns:a16="http://schemas.microsoft.com/office/drawing/2014/main" id="{42BF68F3-603F-EAE3-C2E4-747CDAEDD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96C5AD-5893-995A-B1D7-D904C4594398}"/>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1550763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A01A-CA0C-68F5-EA4C-7BAEC54B14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42B98D-E881-69D7-2296-3C23B6323A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D4E181-2FD2-80B7-0B03-B2FCD5B393DF}"/>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9E236D0F-DD7A-E45F-E3E3-F8BDC1526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1D5B6-BD0A-4DC5-0F6D-D0323CB0ED89}"/>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2180248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161FA0-C65A-34B9-BAFD-290593247D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CB5B62-CECC-9736-BD1D-984E6E3928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F840B1-A650-23DB-C29A-A7F6AE640B23}"/>
              </a:ext>
            </a:extLst>
          </p:cNvPr>
          <p:cNvSpPr>
            <a:spLocks noGrp="1"/>
          </p:cNvSpPr>
          <p:nvPr>
            <p:ph type="dt" sz="half" idx="10"/>
          </p:nvPr>
        </p:nvSpPr>
        <p:spPr/>
        <p:txBody>
          <a:body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623454B6-A135-4E3D-2C8D-58D5CDFAD5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07EBCB-EB75-C051-4267-740BB47309A6}"/>
              </a:ext>
            </a:extLst>
          </p:cNvPr>
          <p:cNvSpPr>
            <a:spLocks noGrp="1"/>
          </p:cNvSpPr>
          <p:nvPr>
            <p:ph type="sldNum" sz="quarter" idx="12"/>
          </p:nvPr>
        </p:nvSpPr>
        <p:spPr/>
        <p:txBody>
          <a:bodyPr/>
          <a:lstStyle/>
          <a:p>
            <a:fld id="{42CDB2A3-FE61-4258-870C-A0CFF6637B66}" type="slidenum">
              <a:rPr lang="en-US" smtClean="0"/>
              <a:t>‹#›</a:t>
            </a:fld>
            <a:endParaRPr lang="en-US"/>
          </a:p>
        </p:txBody>
      </p:sp>
    </p:spTree>
    <p:extLst>
      <p:ext uri="{BB962C8B-B14F-4D97-AF65-F5344CB8AC3E}">
        <p14:creationId xmlns:p14="http://schemas.microsoft.com/office/powerpoint/2010/main" val="3498769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2A53A1-DECA-47CF-2F5C-4ABCD47DFC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121E81-17E0-9614-9873-76DC66B8B1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DEC919-12C5-939B-C0BA-15D9F62F31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BE473B-E154-4DE8-AC14-946E203254FA}" type="datetimeFigureOut">
              <a:rPr lang="en-US" smtClean="0"/>
              <a:t>8/19/2026</a:t>
            </a:fld>
            <a:endParaRPr lang="en-US"/>
          </a:p>
        </p:txBody>
      </p:sp>
      <p:sp>
        <p:nvSpPr>
          <p:cNvPr id="5" name="Footer Placeholder 4">
            <a:extLst>
              <a:ext uri="{FF2B5EF4-FFF2-40B4-BE49-F238E27FC236}">
                <a16:creationId xmlns:a16="http://schemas.microsoft.com/office/drawing/2014/main" id="{61CEF911-7901-3C50-B733-DBA60C0C17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70C915-BCED-C00D-D3D5-5A468FD239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2CDB2A3-FE61-4258-870C-A0CFF6637B66}" type="slidenum">
              <a:rPr lang="en-US" smtClean="0"/>
              <a:t>‹#›</a:t>
            </a:fld>
            <a:endParaRPr lang="en-US"/>
          </a:p>
        </p:txBody>
      </p:sp>
    </p:spTree>
    <p:extLst>
      <p:ext uri="{BB962C8B-B14F-4D97-AF65-F5344CB8AC3E}">
        <p14:creationId xmlns:p14="http://schemas.microsoft.com/office/powerpoint/2010/main" val="1743955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2.jpg"/><Relationship Id="rId5" Type="http://schemas.openxmlformats.org/officeDocument/2006/relationships/image" Target="../media/image8.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B0847-63F7-904A-4DD6-56536E513DCC}"/>
              </a:ext>
            </a:extLst>
          </p:cNvPr>
          <p:cNvSpPr>
            <a:spLocks noGrp="1"/>
          </p:cNvSpPr>
          <p:nvPr>
            <p:ph type="ctrTitle"/>
          </p:nvPr>
        </p:nvSpPr>
        <p:spPr/>
        <p:txBody>
          <a:bodyPr>
            <a:normAutofit/>
          </a:bodyPr>
          <a:lstStyle/>
          <a:p>
            <a:r>
              <a:rPr lang="en-US" dirty="0"/>
              <a:t>ECE 4793/6793 and CSE 4353/6353</a:t>
            </a:r>
          </a:p>
        </p:txBody>
      </p:sp>
      <p:sp>
        <p:nvSpPr>
          <p:cNvPr id="3" name="Subtitle 2">
            <a:extLst>
              <a:ext uri="{FF2B5EF4-FFF2-40B4-BE49-F238E27FC236}">
                <a16:creationId xmlns:a16="http://schemas.microsoft.com/office/drawing/2014/main" id="{3BC83289-4E3D-8C93-39FF-4814C76D7A4D}"/>
              </a:ext>
            </a:extLst>
          </p:cNvPr>
          <p:cNvSpPr>
            <a:spLocks noGrp="1"/>
          </p:cNvSpPr>
          <p:nvPr>
            <p:ph type="subTitle" idx="1"/>
          </p:nvPr>
        </p:nvSpPr>
        <p:spPr/>
        <p:txBody>
          <a:bodyPr/>
          <a:lstStyle/>
          <a:p>
            <a:r>
              <a:rPr lang="en-US" dirty="0"/>
              <a:t>Applications of Literate Programming in Software Development</a:t>
            </a:r>
          </a:p>
        </p:txBody>
      </p:sp>
    </p:spTree>
    <p:extLst>
      <p:ext uri="{BB962C8B-B14F-4D97-AF65-F5344CB8AC3E}">
        <p14:creationId xmlns:p14="http://schemas.microsoft.com/office/powerpoint/2010/main" val="4141417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A178-D401-BDEE-8D04-925CDAE49DA1}"/>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D680CB4E-8CB8-0E7F-15C5-EA94D194BDB9}"/>
              </a:ext>
            </a:extLst>
          </p:cNvPr>
          <p:cNvSpPr>
            <a:spLocks noGrp="1"/>
          </p:cNvSpPr>
          <p:nvPr>
            <p:ph idx="1"/>
          </p:nvPr>
        </p:nvSpPr>
        <p:spPr/>
        <p:txBody>
          <a:bodyPr/>
          <a:lstStyle/>
          <a:p>
            <a:r>
              <a:rPr lang="en-US" dirty="0"/>
              <a:t>Grow you as a software developer.</a:t>
            </a:r>
          </a:p>
          <a:p>
            <a:r>
              <a:rPr lang="en-US" dirty="0"/>
              <a:t>Provide techniques for effective use of LLMs to generate code.</a:t>
            </a:r>
          </a:p>
          <a:p>
            <a:r>
              <a:rPr lang="en-US" dirty="0"/>
              <a:t>Your job (mainly) is to manage the code generation process, not to serve as the primary author of the code.</a:t>
            </a:r>
          </a:p>
          <a:p>
            <a:r>
              <a:rPr lang="en-US" dirty="0"/>
              <a:t>Provide a basic introduction to tools every developer needs:</a:t>
            </a:r>
          </a:p>
          <a:p>
            <a:pPr lvl="1"/>
            <a:r>
              <a:rPr lang="en-US" dirty="0"/>
              <a:t>Git</a:t>
            </a:r>
          </a:p>
          <a:p>
            <a:pPr lvl="1"/>
            <a:r>
              <a:rPr lang="en-US" dirty="0"/>
              <a:t>Testing</a:t>
            </a:r>
          </a:p>
          <a:p>
            <a:pPr lvl="1"/>
            <a:r>
              <a:rPr lang="en-US" dirty="0"/>
              <a:t>GitHub (social coding, project management)</a:t>
            </a:r>
          </a:p>
          <a:p>
            <a:endParaRPr lang="en-US" dirty="0"/>
          </a:p>
        </p:txBody>
      </p:sp>
    </p:spTree>
    <p:extLst>
      <p:ext uri="{BB962C8B-B14F-4D97-AF65-F5344CB8AC3E}">
        <p14:creationId xmlns:p14="http://schemas.microsoft.com/office/powerpoint/2010/main" val="1651740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F360-BA07-0FF1-8C16-4CE21907CFF1}"/>
              </a:ext>
            </a:extLst>
          </p:cNvPr>
          <p:cNvSpPr>
            <a:spLocks noGrp="1"/>
          </p:cNvSpPr>
          <p:nvPr>
            <p:ph type="title"/>
          </p:nvPr>
        </p:nvSpPr>
        <p:spPr/>
        <p:txBody>
          <a:bodyPr/>
          <a:lstStyle/>
          <a:p>
            <a:r>
              <a:rPr lang="en-US" dirty="0"/>
              <a:t>Literate programming</a:t>
            </a:r>
          </a:p>
        </p:txBody>
      </p:sp>
      <p:sp>
        <p:nvSpPr>
          <p:cNvPr id="3" name="Content Placeholder 2">
            <a:extLst>
              <a:ext uri="{FF2B5EF4-FFF2-40B4-BE49-F238E27FC236}">
                <a16:creationId xmlns:a16="http://schemas.microsoft.com/office/drawing/2014/main" id="{1FF392A4-89D9-3A43-6C4E-DE44E91D7D1C}"/>
              </a:ext>
            </a:extLst>
          </p:cNvPr>
          <p:cNvSpPr>
            <a:spLocks noGrp="1"/>
          </p:cNvSpPr>
          <p:nvPr>
            <p:ph idx="1"/>
          </p:nvPr>
        </p:nvSpPr>
        <p:spPr>
          <a:xfrm>
            <a:off x="838200" y="1825625"/>
            <a:ext cx="4018472" cy="4351338"/>
          </a:xfrm>
        </p:spPr>
        <p:txBody>
          <a:bodyPr/>
          <a:lstStyle/>
          <a:p>
            <a:r>
              <a:rPr lang="en-US" dirty="0"/>
              <a:t>Managing LLMs means lots of writing: requirements, specs, data structures, …</a:t>
            </a:r>
          </a:p>
          <a:p>
            <a:r>
              <a:rPr lang="en-US" dirty="0"/>
              <a:t>Writing about code is easiest when you can place your writing within the code.</a:t>
            </a:r>
          </a:p>
        </p:txBody>
      </p:sp>
      <p:pic>
        <p:nvPicPr>
          <p:cNvPr id="5" name="Picture 4">
            <a:extLst>
              <a:ext uri="{FF2B5EF4-FFF2-40B4-BE49-F238E27FC236}">
                <a16:creationId xmlns:a16="http://schemas.microsoft.com/office/drawing/2014/main" id="{235B4025-E690-833D-C69B-771688367EFE}"/>
              </a:ext>
            </a:extLst>
          </p:cNvPr>
          <p:cNvPicPr>
            <a:picLocks noChangeAspect="1"/>
          </p:cNvPicPr>
          <p:nvPr/>
        </p:nvPicPr>
        <p:blipFill>
          <a:blip r:embed="rId2"/>
          <a:stretch>
            <a:fillRect/>
          </a:stretch>
        </p:blipFill>
        <p:spPr>
          <a:xfrm>
            <a:off x="5882918" y="0"/>
            <a:ext cx="6309082" cy="6858000"/>
          </a:xfrm>
          <a:prstGeom prst="rect">
            <a:avLst/>
          </a:prstGeom>
        </p:spPr>
      </p:pic>
    </p:spTree>
    <p:extLst>
      <p:ext uri="{BB962C8B-B14F-4D97-AF65-F5344CB8AC3E}">
        <p14:creationId xmlns:p14="http://schemas.microsoft.com/office/powerpoint/2010/main" val="228575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3A364-53C2-5598-0278-85B65F0CE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8CCC7-2848-5ED7-F26E-6DF7F5B3151A}"/>
              </a:ext>
            </a:extLst>
          </p:cNvPr>
          <p:cNvSpPr>
            <a:spLocks noGrp="1"/>
          </p:cNvSpPr>
          <p:nvPr>
            <p:ph type="title"/>
          </p:nvPr>
        </p:nvSpPr>
        <p:spPr/>
        <p:txBody>
          <a:bodyPr/>
          <a:lstStyle/>
          <a:p>
            <a:r>
              <a:rPr lang="en-US" dirty="0"/>
              <a:t>Literate programming</a:t>
            </a:r>
          </a:p>
        </p:txBody>
      </p:sp>
      <p:sp>
        <p:nvSpPr>
          <p:cNvPr id="3" name="Content Placeholder 2">
            <a:extLst>
              <a:ext uri="{FF2B5EF4-FFF2-40B4-BE49-F238E27FC236}">
                <a16:creationId xmlns:a16="http://schemas.microsoft.com/office/drawing/2014/main" id="{DDA877BF-3FF1-1BF1-8D5A-2946447FA5D0}"/>
              </a:ext>
            </a:extLst>
          </p:cNvPr>
          <p:cNvSpPr>
            <a:spLocks noGrp="1"/>
          </p:cNvSpPr>
          <p:nvPr>
            <p:ph idx="1"/>
          </p:nvPr>
        </p:nvSpPr>
        <p:spPr>
          <a:xfrm>
            <a:off x="838200" y="1825625"/>
            <a:ext cx="4018472" cy="4351338"/>
          </a:xfrm>
        </p:spPr>
        <p:txBody>
          <a:bodyPr/>
          <a:lstStyle/>
          <a:p>
            <a:r>
              <a:rPr lang="en-US" dirty="0"/>
              <a:t>Managing LLMs means lots of writing: requirements, specs, data structures, …</a:t>
            </a:r>
          </a:p>
          <a:p>
            <a:r>
              <a:rPr lang="en-US" dirty="0"/>
              <a:t>Writing about code is easiest when you can place your writing within the code.</a:t>
            </a:r>
          </a:p>
        </p:txBody>
      </p:sp>
      <p:pic>
        <p:nvPicPr>
          <p:cNvPr id="5" name="Picture 4">
            <a:extLst>
              <a:ext uri="{FF2B5EF4-FFF2-40B4-BE49-F238E27FC236}">
                <a16:creationId xmlns:a16="http://schemas.microsoft.com/office/drawing/2014/main" id="{3AF0FE3A-26CF-B0A4-A669-5A2A9E84BEAB}"/>
              </a:ext>
            </a:extLst>
          </p:cNvPr>
          <p:cNvPicPr>
            <a:picLocks noChangeAspect="1"/>
          </p:cNvPicPr>
          <p:nvPr/>
        </p:nvPicPr>
        <p:blipFill>
          <a:blip r:embed="rId2"/>
          <a:stretch>
            <a:fillRect/>
          </a:stretch>
        </p:blipFill>
        <p:spPr>
          <a:xfrm>
            <a:off x="5882918" y="0"/>
            <a:ext cx="6309082" cy="6858000"/>
          </a:xfrm>
          <a:prstGeom prst="rect">
            <a:avLst/>
          </a:prstGeom>
        </p:spPr>
      </p:pic>
      <p:pic>
        <p:nvPicPr>
          <p:cNvPr id="8" name="Picture 7">
            <a:extLst>
              <a:ext uri="{FF2B5EF4-FFF2-40B4-BE49-F238E27FC236}">
                <a16:creationId xmlns:a16="http://schemas.microsoft.com/office/drawing/2014/main" id="{E64826F6-510A-EE03-74C6-2809B31901CD}"/>
              </a:ext>
            </a:extLst>
          </p:cNvPr>
          <p:cNvPicPr>
            <a:picLocks noChangeAspect="1"/>
          </p:cNvPicPr>
          <p:nvPr/>
        </p:nvPicPr>
        <p:blipFill>
          <a:blip r:embed="rId3"/>
          <a:stretch>
            <a:fillRect/>
          </a:stretch>
        </p:blipFill>
        <p:spPr>
          <a:xfrm>
            <a:off x="1" y="0"/>
            <a:ext cx="5882918" cy="6858000"/>
          </a:xfrm>
          <a:prstGeom prst="rect">
            <a:avLst/>
          </a:prstGeom>
        </p:spPr>
      </p:pic>
    </p:spTree>
    <p:extLst>
      <p:ext uri="{BB962C8B-B14F-4D97-AF65-F5344CB8AC3E}">
        <p14:creationId xmlns:p14="http://schemas.microsoft.com/office/powerpoint/2010/main" val="738038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C249F-9812-BD56-E96C-C5C5657B75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6061E81-4496-5C93-EE2A-7508D629AA4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7863BA0-CF16-75E2-E54E-AE8FE0B1E3EB}"/>
              </a:ext>
            </a:extLst>
          </p:cNvPr>
          <p:cNvPicPr>
            <a:picLocks noChangeAspect="1"/>
          </p:cNvPicPr>
          <p:nvPr/>
        </p:nvPicPr>
        <p:blipFill>
          <a:blip r:embed="rId3"/>
          <a:stretch>
            <a:fillRect/>
          </a:stretch>
        </p:blipFill>
        <p:spPr>
          <a:xfrm>
            <a:off x="0" y="0"/>
            <a:ext cx="6621757" cy="6858000"/>
          </a:xfrm>
          <a:prstGeom prst="rect">
            <a:avLst/>
          </a:prstGeom>
        </p:spPr>
      </p:pic>
      <p:pic>
        <p:nvPicPr>
          <p:cNvPr id="5" name="Picture 4">
            <a:extLst>
              <a:ext uri="{FF2B5EF4-FFF2-40B4-BE49-F238E27FC236}">
                <a16:creationId xmlns:a16="http://schemas.microsoft.com/office/drawing/2014/main" id="{BFD59111-EA88-24E2-5475-1F0BE1E08319}"/>
              </a:ext>
            </a:extLst>
          </p:cNvPr>
          <p:cNvPicPr>
            <a:picLocks noChangeAspect="1"/>
          </p:cNvPicPr>
          <p:nvPr/>
        </p:nvPicPr>
        <p:blipFill>
          <a:blip r:embed="rId4"/>
          <a:stretch>
            <a:fillRect/>
          </a:stretch>
        </p:blipFill>
        <p:spPr>
          <a:xfrm>
            <a:off x="5903186" y="0"/>
            <a:ext cx="6288814" cy="6858000"/>
          </a:xfrm>
          <a:prstGeom prst="rect">
            <a:avLst/>
          </a:prstGeom>
        </p:spPr>
      </p:pic>
      <p:sp>
        <p:nvSpPr>
          <p:cNvPr id="10" name="Rectangle 9">
            <a:extLst>
              <a:ext uri="{FF2B5EF4-FFF2-40B4-BE49-F238E27FC236}">
                <a16:creationId xmlns:a16="http://schemas.microsoft.com/office/drawing/2014/main" id="{A4B43CE4-7219-6879-8148-8DBD36C64A65}"/>
              </a:ext>
            </a:extLst>
          </p:cNvPr>
          <p:cNvSpPr/>
          <p:nvPr/>
        </p:nvSpPr>
        <p:spPr>
          <a:xfrm>
            <a:off x="0" y="0"/>
            <a:ext cx="12192000" cy="6858000"/>
          </a:xfrm>
          <a:prstGeom prst="rect">
            <a:avLst/>
          </a:prstGeom>
          <a:solidFill>
            <a:srgbClr val="000000">
              <a:alpha val="4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EFAD533-29FC-A5EC-0CD7-D1712ECABC42}"/>
              </a:ext>
            </a:extLst>
          </p:cNvPr>
          <p:cNvPicPr>
            <a:picLocks noChangeAspect="1"/>
          </p:cNvPicPr>
          <p:nvPr/>
        </p:nvPicPr>
        <p:blipFill>
          <a:blip r:embed="rId5"/>
          <a:stretch>
            <a:fillRect/>
          </a:stretch>
        </p:blipFill>
        <p:spPr>
          <a:xfrm>
            <a:off x="4413523" y="2671021"/>
            <a:ext cx="4001058" cy="1714739"/>
          </a:xfrm>
          <a:prstGeom prst="rect">
            <a:avLst/>
          </a:prstGeom>
        </p:spPr>
      </p:pic>
    </p:spTree>
    <p:extLst>
      <p:ext uri="{BB962C8B-B14F-4D97-AF65-F5344CB8AC3E}">
        <p14:creationId xmlns:p14="http://schemas.microsoft.com/office/powerpoint/2010/main" val="277468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173CF-46A7-56E1-CBA3-90D44D93E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7A5EF-178C-3E42-BB1B-2700A4B3A99B}"/>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2FABB9E4-B499-C1E5-1067-AF8DB0DC4511}"/>
              </a:ext>
            </a:extLst>
          </p:cNvPr>
          <p:cNvSpPr>
            <a:spLocks noGrp="1"/>
          </p:cNvSpPr>
          <p:nvPr>
            <p:ph idx="1"/>
          </p:nvPr>
        </p:nvSpPr>
        <p:spPr/>
        <p:txBody>
          <a:bodyPr>
            <a:normAutofit/>
          </a:bodyPr>
          <a:lstStyle/>
          <a:p>
            <a:r>
              <a:rPr lang="en-US" dirty="0"/>
              <a:t>I’ll share my experience. I don’t have all the answers.</a:t>
            </a:r>
          </a:p>
          <a:p>
            <a:r>
              <a:rPr lang="en-US" dirty="0"/>
              <a:t>I value your input, in-person and distance:</a:t>
            </a:r>
          </a:p>
          <a:p>
            <a:pPr lvl="1"/>
            <a:r>
              <a:rPr lang="en-US" dirty="0"/>
              <a:t>In general, I’ll give in-person/synchronous students time to discuss. Async: use this to develop a response to the question.</a:t>
            </a:r>
          </a:p>
          <a:p>
            <a:pPr lvl="1"/>
            <a:r>
              <a:rPr lang="en-US" dirty="0"/>
              <a:t>Each group, post your replies in the survey/chat; distance, post when you view the video.</a:t>
            </a:r>
          </a:p>
          <a:p>
            <a:r>
              <a:rPr lang="en-US" dirty="0"/>
              <a:t>What are your techniques for effective use of LLMs to generate code?</a:t>
            </a:r>
          </a:p>
        </p:txBody>
      </p:sp>
    </p:spTree>
    <p:extLst>
      <p:ext uri="{BB962C8B-B14F-4D97-AF65-F5344CB8AC3E}">
        <p14:creationId xmlns:p14="http://schemas.microsoft.com/office/powerpoint/2010/main" val="165875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7403C8-8F3A-B57B-2D7C-F05772F2DBF9}"/>
              </a:ext>
            </a:extLst>
          </p:cNvPr>
          <p:cNvSpPr>
            <a:spLocks noGrp="1"/>
          </p:cNvSpPr>
          <p:nvPr>
            <p:ph type="title"/>
          </p:nvPr>
        </p:nvSpPr>
        <p:spPr/>
        <p:txBody>
          <a:bodyPr/>
          <a:lstStyle/>
          <a:p>
            <a:r>
              <a:rPr lang="en-US" dirty="0">
                <a:solidFill>
                  <a:schemeClr val="accent2">
                    <a:lumMod val="50000"/>
                  </a:schemeClr>
                </a:solidFill>
              </a:rPr>
              <a:t>MSU Emergency Procedures: </a:t>
            </a:r>
          </a:p>
        </p:txBody>
      </p:sp>
      <p:pic>
        <p:nvPicPr>
          <p:cNvPr id="8" name="Content Placeholder 7">
            <a:extLst>
              <a:ext uri="{FF2B5EF4-FFF2-40B4-BE49-F238E27FC236}">
                <a16:creationId xmlns:a16="http://schemas.microsoft.com/office/drawing/2014/main" id="{08C9EE89-B1AD-564D-D0B9-61F77FF4F6D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998974" y="1763858"/>
            <a:ext cx="407796" cy="431099"/>
          </a:xfrm>
          <a:prstGeom prst="rect">
            <a:avLst/>
          </a:prstGeom>
        </p:spPr>
      </p:pic>
      <p:pic>
        <p:nvPicPr>
          <p:cNvPr id="12" name="Content Placeholder 11">
            <a:extLst>
              <a:ext uri="{FF2B5EF4-FFF2-40B4-BE49-F238E27FC236}">
                <a16:creationId xmlns:a16="http://schemas.microsoft.com/office/drawing/2014/main" id="{747AF028-896F-5063-3AA1-0D204D2886DF}"/>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481880" y="1783638"/>
            <a:ext cx="453306" cy="453306"/>
          </a:xfrm>
          <a:prstGeom prst="rect">
            <a:avLst/>
          </a:prstGeom>
        </p:spPr>
      </p:pic>
      <p:sp>
        <p:nvSpPr>
          <p:cNvPr id="9" name="TextBox 8">
            <a:extLst>
              <a:ext uri="{FF2B5EF4-FFF2-40B4-BE49-F238E27FC236}">
                <a16:creationId xmlns:a16="http://schemas.microsoft.com/office/drawing/2014/main" id="{5041ADB6-D7A6-E8B6-AC98-5B5D40E8EA9C}"/>
              </a:ext>
            </a:extLst>
          </p:cNvPr>
          <p:cNvSpPr txBox="1"/>
          <p:nvPr/>
        </p:nvSpPr>
        <p:spPr>
          <a:xfrm>
            <a:off x="1316334" y="1825625"/>
            <a:ext cx="3301385" cy="523220"/>
          </a:xfrm>
          <a:prstGeom prst="rect">
            <a:avLst/>
          </a:prstGeom>
          <a:noFill/>
        </p:spPr>
        <p:txBody>
          <a:bodyPr wrap="square" lIns="91440" tIns="45720" rIns="91440" bIns="45720" rtlCol="0" anchor="t">
            <a:spAutoFit/>
          </a:bodyPr>
          <a:lstStyle/>
          <a:p>
            <a:r>
              <a:rPr lang="en-US" sz="2800" b="1" dirty="0"/>
              <a:t>Fire / Evacuation</a:t>
            </a:r>
          </a:p>
        </p:txBody>
      </p:sp>
      <p:sp>
        <p:nvSpPr>
          <p:cNvPr id="10" name="TextBox 9">
            <a:extLst>
              <a:ext uri="{FF2B5EF4-FFF2-40B4-BE49-F238E27FC236}">
                <a16:creationId xmlns:a16="http://schemas.microsoft.com/office/drawing/2014/main" id="{C33193AA-2530-32BB-A377-D4EBDE720521}"/>
              </a:ext>
            </a:extLst>
          </p:cNvPr>
          <p:cNvSpPr txBox="1"/>
          <p:nvPr/>
        </p:nvSpPr>
        <p:spPr>
          <a:xfrm>
            <a:off x="998974" y="2185080"/>
            <a:ext cx="4484495" cy="1200329"/>
          </a:xfrm>
          <a:prstGeom prst="rect">
            <a:avLst/>
          </a:prstGeom>
          <a:noFill/>
        </p:spPr>
        <p:txBody>
          <a:bodyPr wrap="square" rtlCol="0">
            <a:spAutoFit/>
          </a:bodyPr>
          <a:lstStyle/>
          <a:p>
            <a:r>
              <a:rPr lang="en-US" dirty="0"/>
              <a:t>Evacuate immediately when alarm sounds</a:t>
            </a:r>
          </a:p>
          <a:p>
            <a:r>
              <a:rPr lang="en-US" dirty="0"/>
              <a:t>Use nearest exit (no elevators)</a:t>
            </a:r>
          </a:p>
          <a:p>
            <a:r>
              <a:rPr lang="en-US" dirty="0"/>
              <a:t>Move away from building</a:t>
            </a:r>
          </a:p>
          <a:p>
            <a:r>
              <a:rPr lang="en-US" dirty="0"/>
              <a:t>Do not re-enter until cleared</a:t>
            </a:r>
          </a:p>
        </p:txBody>
      </p:sp>
      <p:sp>
        <p:nvSpPr>
          <p:cNvPr id="13" name="TextBox 12">
            <a:extLst>
              <a:ext uri="{FF2B5EF4-FFF2-40B4-BE49-F238E27FC236}">
                <a16:creationId xmlns:a16="http://schemas.microsoft.com/office/drawing/2014/main" id="{713EB5F1-D52D-AF77-5A4A-C930B1514E0B}"/>
              </a:ext>
            </a:extLst>
          </p:cNvPr>
          <p:cNvSpPr txBox="1"/>
          <p:nvPr/>
        </p:nvSpPr>
        <p:spPr>
          <a:xfrm>
            <a:off x="6935186" y="1825625"/>
            <a:ext cx="3940479" cy="523220"/>
          </a:xfrm>
          <a:prstGeom prst="rect">
            <a:avLst/>
          </a:prstGeom>
          <a:noFill/>
        </p:spPr>
        <p:txBody>
          <a:bodyPr wrap="square" rtlCol="0">
            <a:spAutoFit/>
          </a:bodyPr>
          <a:lstStyle/>
          <a:p>
            <a:r>
              <a:rPr lang="en-US" sz="2800" b="1" dirty="0"/>
              <a:t>Tornado Warning</a:t>
            </a:r>
          </a:p>
        </p:txBody>
      </p:sp>
      <p:sp>
        <p:nvSpPr>
          <p:cNvPr id="14" name="TextBox 13">
            <a:extLst>
              <a:ext uri="{FF2B5EF4-FFF2-40B4-BE49-F238E27FC236}">
                <a16:creationId xmlns:a16="http://schemas.microsoft.com/office/drawing/2014/main" id="{79C1DC72-BDF3-B641-47F1-ED4B18637FC9}"/>
              </a:ext>
            </a:extLst>
          </p:cNvPr>
          <p:cNvSpPr txBox="1"/>
          <p:nvPr/>
        </p:nvSpPr>
        <p:spPr>
          <a:xfrm>
            <a:off x="6708533" y="2236944"/>
            <a:ext cx="4484493" cy="1200329"/>
          </a:xfrm>
          <a:prstGeom prst="rect">
            <a:avLst/>
          </a:prstGeom>
          <a:noFill/>
        </p:spPr>
        <p:txBody>
          <a:bodyPr wrap="square" rtlCol="0">
            <a:spAutoFit/>
          </a:bodyPr>
          <a:lstStyle/>
          <a:p>
            <a:r>
              <a:rPr lang="en-US" dirty="0"/>
              <a:t>Go to interior room on lowest floor</a:t>
            </a:r>
          </a:p>
          <a:p>
            <a:r>
              <a:rPr lang="en-US" dirty="0"/>
              <a:t>Stay away from windows</a:t>
            </a:r>
          </a:p>
          <a:p>
            <a:r>
              <a:rPr lang="en-US" dirty="0"/>
              <a:t>Avoid large open spaces</a:t>
            </a:r>
          </a:p>
          <a:p>
            <a:r>
              <a:rPr lang="en-US" dirty="0"/>
              <a:t>Cover head/neck and wait for all-clear</a:t>
            </a:r>
          </a:p>
        </p:txBody>
      </p:sp>
      <p:pic>
        <p:nvPicPr>
          <p:cNvPr id="20" name="Picture 19">
            <a:extLst>
              <a:ext uri="{FF2B5EF4-FFF2-40B4-BE49-F238E27FC236}">
                <a16:creationId xmlns:a16="http://schemas.microsoft.com/office/drawing/2014/main" id="{AAECC647-2513-2FAE-7C0D-5534A210C5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5389807"/>
            <a:ext cx="7382256" cy="1033272"/>
          </a:xfrm>
          <a:prstGeom prst="rect">
            <a:avLst/>
          </a:prstGeom>
        </p:spPr>
      </p:pic>
      <p:sp>
        <p:nvSpPr>
          <p:cNvPr id="2" name="TextBox 1">
            <a:extLst>
              <a:ext uri="{FF2B5EF4-FFF2-40B4-BE49-F238E27FC236}">
                <a16:creationId xmlns:a16="http://schemas.microsoft.com/office/drawing/2014/main" id="{21886896-059E-42AE-D1C1-96F58C090FCE}"/>
              </a:ext>
            </a:extLst>
          </p:cNvPr>
          <p:cNvSpPr txBox="1"/>
          <p:nvPr/>
        </p:nvSpPr>
        <p:spPr>
          <a:xfrm>
            <a:off x="998974" y="3569729"/>
            <a:ext cx="3940479" cy="954107"/>
          </a:xfrm>
          <a:prstGeom prst="rect">
            <a:avLst/>
          </a:prstGeom>
          <a:noFill/>
        </p:spPr>
        <p:txBody>
          <a:bodyPr wrap="square" rtlCol="0">
            <a:spAutoFit/>
          </a:bodyPr>
          <a:lstStyle/>
          <a:p>
            <a:r>
              <a:rPr lang="en-US" sz="2000" b="1" dirty="0"/>
              <a:t>Evacuation Reunification Area:</a:t>
            </a:r>
          </a:p>
          <a:p>
            <a:r>
              <a:rPr lang="en-US" dirty="0"/>
              <a:t>North of building in front of Bowen Hall</a:t>
            </a:r>
          </a:p>
        </p:txBody>
      </p:sp>
      <p:sp>
        <p:nvSpPr>
          <p:cNvPr id="3" name="TextBox 2">
            <a:extLst>
              <a:ext uri="{FF2B5EF4-FFF2-40B4-BE49-F238E27FC236}">
                <a16:creationId xmlns:a16="http://schemas.microsoft.com/office/drawing/2014/main" id="{CBDC7F24-6819-4229-56C4-3C28BE90534A}"/>
              </a:ext>
            </a:extLst>
          </p:cNvPr>
          <p:cNvSpPr txBox="1"/>
          <p:nvPr/>
        </p:nvSpPr>
        <p:spPr>
          <a:xfrm>
            <a:off x="6481880" y="3614993"/>
            <a:ext cx="3940479" cy="677108"/>
          </a:xfrm>
          <a:prstGeom prst="rect">
            <a:avLst/>
          </a:prstGeom>
          <a:noFill/>
        </p:spPr>
        <p:txBody>
          <a:bodyPr wrap="square" rtlCol="0">
            <a:spAutoFit/>
          </a:bodyPr>
          <a:lstStyle/>
          <a:p>
            <a:r>
              <a:rPr lang="en-US" sz="2000" b="1" dirty="0"/>
              <a:t>Severe Weather Refuge Area:</a:t>
            </a:r>
          </a:p>
          <a:p>
            <a:r>
              <a:rPr lang="en-US" dirty="0"/>
              <a:t>Room 104 &amp; under 1st floor stairwells</a:t>
            </a:r>
            <a:endParaRPr lang="en-US" b="1" dirty="0"/>
          </a:p>
        </p:txBody>
      </p:sp>
      <p:pic>
        <p:nvPicPr>
          <p:cNvPr id="6" name="Picture 5">
            <a:extLst>
              <a:ext uri="{FF2B5EF4-FFF2-40B4-BE49-F238E27FC236}">
                <a16:creationId xmlns:a16="http://schemas.microsoft.com/office/drawing/2014/main" id="{D7EEA482-21BF-D5EC-AB7E-F7BAB105D5B4}"/>
              </a:ext>
            </a:extLst>
          </p:cNvPr>
          <p:cNvPicPr>
            <a:picLocks noChangeAspect="1"/>
          </p:cNvPicPr>
          <p:nvPr/>
        </p:nvPicPr>
        <p:blipFill>
          <a:blip r:embed="rId6"/>
          <a:stretch>
            <a:fillRect/>
          </a:stretch>
        </p:blipFill>
        <p:spPr>
          <a:xfrm>
            <a:off x="9590998" y="4842793"/>
            <a:ext cx="1662721" cy="1654714"/>
          </a:xfrm>
          <a:prstGeom prst="rect">
            <a:avLst/>
          </a:prstGeom>
        </p:spPr>
      </p:pic>
    </p:spTree>
    <p:extLst>
      <p:ext uri="{BB962C8B-B14F-4D97-AF65-F5344CB8AC3E}">
        <p14:creationId xmlns:p14="http://schemas.microsoft.com/office/powerpoint/2010/main" val="549566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B8D6-8FAA-16B2-E947-489739CC91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CD3906-E13D-93B9-5D51-AA9E0AC5461F}"/>
              </a:ext>
            </a:extLst>
          </p:cNvPr>
          <p:cNvSpPr>
            <a:spLocks noGrp="1"/>
          </p:cNvSpPr>
          <p:nvPr>
            <p:ph type="title"/>
          </p:nvPr>
        </p:nvSpPr>
        <p:spPr/>
        <p:txBody>
          <a:bodyPr/>
          <a:lstStyle/>
          <a:p>
            <a:r>
              <a:rPr lang="en-US" dirty="0">
                <a:solidFill>
                  <a:schemeClr val="accent2">
                    <a:lumMod val="50000"/>
                  </a:schemeClr>
                </a:solidFill>
              </a:rPr>
              <a:t>MSU Emergency Procedures: </a:t>
            </a:r>
          </a:p>
        </p:txBody>
      </p:sp>
      <p:pic>
        <p:nvPicPr>
          <p:cNvPr id="8" name="Content Placeholder 7">
            <a:extLst>
              <a:ext uri="{FF2B5EF4-FFF2-40B4-BE49-F238E27FC236}">
                <a16:creationId xmlns:a16="http://schemas.microsoft.com/office/drawing/2014/main" id="{D70D8CC5-3262-0BE6-F104-F33599BAF72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998974" y="1763858"/>
            <a:ext cx="407796" cy="431099"/>
          </a:xfrm>
          <a:prstGeom prst="rect">
            <a:avLst/>
          </a:prstGeom>
        </p:spPr>
      </p:pic>
      <p:pic>
        <p:nvPicPr>
          <p:cNvPr id="12" name="Content Placeholder 11">
            <a:extLst>
              <a:ext uri="{FF2B5EF4-FFF2-40B4-BE49-F238E27FC236}">
                <a16:creationId xmlns:a16="http://schemas.microsoft.com/office/drawing/2014/main" id="{AA777998-3FB0-39A1-5B94-F9417977A3FA}"/>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rcRect/>
          <a:stretch/>
        </p:blipFill>
        <p:spPr>
          <a:xfrm>
            <a:off x="6481880" y="1783638"/>
            <a:ext cx="453306" cy="453306"/>
          </a:xfrm>
          <a:prstGeom prst="rect">
            <a:avLst/>
          </a:prstGeom>
        </p:spPr>
      </p:pic>
      <p:sp>
        <p:nvSpPr>
          <p:cNvPr id="9" name="TextBox 8">
            <a:extLst>
              <a:ext uri="{FF2B5EF4-FFF2-40B4-BE49-F238E27FC236}">
                <a16:creationId xmlns:a16="http://schemas.microsoft.com/office/drawing/2014/main" id="{B007454D-B6D8-C609-36A0-F59F21436827}"/>
              </a:ext>
            </a:extLst>
          </p:cNvPr>
          <p:cNvSpPr txBox="1"/>
          <p:nvPr/>
        </p:nvSpPr>
        <p:spPr>
          <a:xfrm>
            <a:off x="1316335" y="1825625"/>
            <a:ext cx="4484493" cy="830997"/>
          </a:xfrm>
          <a:prstGeom prst="rect">
            <a:avLst/>
          </a:prstGeom>
          <a:noFill/>
        </p:spPr>
        <p:txBody>
          <a:bodyPr wrap="square" rtlCol="0">
            <a:spAutoFit/>
          </a:bodyPr>
          <a:lstStyle/>
          <a:p>
            <a:r>
              <a:rPr lang="en-US" sz="2800" b="1" dirty="0"/>
              <a:t>Active Attacker </a:t>
            </a:r>
          </a:p>
          <a:p>
            <a:r>
              <a:rPr lang="en-US" sz="2000" b="1" dirty="0"/>
              <a:t>(Avoid, Deny, Defend)</a:t>
            </a:r>
          </a:p>
        </p:txBody>
      </p:sp>
      <p:sp>
        <p:nvSpPr>
          <p:cNvPr id="10" name="TextBox 9">
            <a:extLst>
              <a:ext uri="{FF2B5EF4-FFF2-40B4-BE49-F238E27FC236}">
                <a16:creationId xmlns:a16="http://schemas.microsoft.com/office/drawing/2014/main" id="{FEAA0087-5973-F54E-749F-2E2B1950EEA4}"/>
              </a:ext>
            </a:extLst>
          </p:cNvPr>
          <p:cNvSpPr txBox="1"/>
          <p:nvPr/>
        </p:nvSpPr>
        <p:spPr>
          <a:xfrm>
            <a:off x="998973" y="2581899"/>
            <a:ext cx="4484495" cy="923330"/>
          </a:xfrm>
          <a:prstGeom prst="rect">
            <a:avLst/>
          </a:prstGeom>
          <a:noFill/>
        </p:spPr>
        <p:txBody>
          <a:bodyPr wrap="square" rtlCol="0">
            <a:spAutoFit/>
          </a:bodyPr>
          <a:lstStyle/>
          <a:p>
            <a:r>
              <a:rPr lang="en-US" b="1" dirty="0"/>
              <a:t>Avoid: </a:t>
            </a:r>
            <a:r>
              <a:rPr lang="en-US" dirty="0"/>
              <a:t>Leave if safe</a:t>
            </a:r>
          </a:p>
          <a:p>
            <a:r>
              <a:rPr lang="en-US" b="1" dirty="0"/>
              <a:t>Deny:</a:t>
            </a:r>
            <a:r>
              <a:rPr lang="en-US" dirty="0"/>
              <a:t> Lock, barricade, silence phones</a:t>
            </a:r>
          </a:p>
          <a:p>
            <a:r>
              <a:rPr lang="en-US" b="1" dirty="0"/>
              <a:t>Defend:</a:t>
            </a:r>
            <a:r>
              <a:rPr lang="en-US" dirty="0"/>
              <a:t> Last resort to stop threat</a:t>
            </a:r>
          </a:p>
        </p:txBody>
      </p:sp>
      <p:sp>
        <p:nvSpPr>
          <p:cNvPr id="13" name="TextBox 12">
            <a:extLst>
              <a:ext uri="{FF2B5EF4-FFF2-40B4-BE49-F238E27FC236}">
                <a16:creationId xmlns:a16="http://schemas.microsoft.com/office/drawing/2014/main" id="{4BAC559C-5CEC-C760-73D9-AA98DB32585B}"/>
              </a:ext>
            </a:extLst>
          </p:cNvPr>
          <p:cNvSpPr txBox="1"/>
          <p:nvPr/>
        </p:nvSpPr>
        <p:spPr>
          <a:xfrm>
            <a:off x="6935186" y="1825625"/>
            <a:ext cx="3940479" cy="523220"/>
          </a:xfrm>
          <a:prstGeom prst="rect">
            <a:avLst/>
          </a:prstGeom>
          <a:noFill/>
        </p:spPr>
        <p:txBody>
          <a:bodyPr wrap="square" rtlCol="0">
            <a:spAutoFit/>
          </a:bodyPr>
          <a:lstStyle/>
          <a:p>
            <a:r>
              <a:rPr lang="en-US" sz="2800" b="1" dirty="0"/>
              <a:t>Medical Emergency</a:t>
            </a:r>
          </a:p>
        </p:txBody>
      </p:sp>
      <p:sp>
        <p:nvSpPr>
          <p:cNvPr id="14" name="TextBox 13">
            <a:extLst>
              <a:ext uri="{FF2B5EF4-FFF2-40B4-BE49-F238E27FC236}">
                <a16:creationId xmlns:a16="http://schemas.microsoft.com/office/drawing/2014/main" id="{460F21FC-2A7E-BD47-3009-3DCB0A251D1B}"/>
              </a:ext>
            </a:extLst>
          </p:cNvPr>
          <p:cNvSpPr txBox="1"/>
          <p:nvPr/>
        </p:nvSpPr>
        <p:spPr>
          <a:xfrm>
            <a:off x="6708533" y="2236944"/>
            <a:ext cx="4484493" cy="1477328"/>
          </a:xfrm>
          <a:prstGeom prst="rect">
            <a:avLst/>
          </a:prstGeom>
          <a:noFill/>
        </p:spPr>
        <p:txBody>
          <a:bodyPr wrap="square" rtlCol="0">
            <a:spAutoFit/>
          </a:bodyPr>
          <a:lstStyle/>
          <a:p>
            <a:r>
              <a:rPr lang="en-US" dirty="0"/>
              <a:t>Call 911</a:t>
            </a:r>
          </a:p>
          <a:p>
            <a:r>
              <a:rPr lang="en-US" dirty="0"/>
              <a:t>Provide location and details</a:t>
            </a:r>
          </a:p>
          <a:p>
            <a:r>
              <a:rPr lang="en-US" dirty="0"/>
              <a:t>Do not move injured unless necessary</a:t>
            </a:r>
          </a:p>
          <a:p>
            <a:r>
              <a:rPr lang="en-US" dirty="0"/>
              <a:t>Provide aid if trained</a:t>
            </a:r>
          </a:p>
          <a:p>
            <a:r>
              <a:rPr lang="en-US" dirty="0"/>
              <a:t>Send someone to guide responders to room</a:t>
            </a:r>
          </a:p>
        </p:txBody>
      </p:sp>
      <p:pic>
        <p:nvPicPr>
          <p:cNvPr id="20" name="Picture 19">
            <a:extLst>
              <a:ext uri="{FF2B5EF4-FFF2-40B4-BE49-F238E27FC236}">
                <a16:creationId xmlns:a16="http://schemas.microsoft.com/office/drawing/2014/main" id="{DFB947E9-9973-70B6-4545-F45AD0E9B3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969" y="5314882"/>
            <a:ext cx="7382256" cy="1033272"/>
          </a:xfrm>
          <a:prstGeom prst="rect">
            <a:avLst/>
          </a:prstGeom>
        </p:spPr>
      </p:pic>
      <p:grpSp>
        <p:nvGrpSpPr>
          <p:cNvPr id="6" name="Group 5">
            <a:extLst>
              <a:ext uri="{FF2B5EF4-FFF2-40B4-BE49-F238E27FC236}">
                <a16:creationId xmlns:a16="http://schemas.microsoft.com/office/drawing/2014/main" id="{DE454948-6BF1-4C84-5D30-6E5DF0A1B532}"/>
              </a:ext>
            </a:extLst>
          </p:cNvPr>
          <p:cNvGrpSpPr/>
          <p:nvPr/>
        </p:nvGrpSpPr>
        <p:grpSpPr>
          <a:xfrm>
            <a:off x="4047417" y="3817643"/>
            <a:ext cx="4035249" cy="600658"/>
            <a:chOff x="1029120" y="3331895"/>
            <a:chExt cx="4035249" cy="600658"/>
          </a:xfrm>
        </p:grpSpPr>
        <p:pic>
          <p:nvPicPr>
            <p:cNvPr id="2" name="Picture 1">
              <a:extLst>
                <a:ext uri="{FF2B5EF4-FFF2-40B4-BE49-F238E27FC236}">
                  <a16:creationId xmlns:a16="http://schemas.microsoft.com/office/drawing/2014/main" id="{D55C710C-3116-3CF8-319A-877064DBDD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9120" y="3331895"/>
              <a:ext cx="439202" cy="524209"/>
            </a:xfrm>
            <a:prstGeom prst="rect">
              <a:avLst/>
            </a:prstGeom>
          </p:spPr>
        </p:pic>
        <p:sp>
          <p:nvSpPr>
            <p:cNvPr id="3" name="TextBox 2">
              <a:extLst>
                <a:ext uri="{FF2B5EF4-FFF2-40B4-BE49-F238E27FC236}">
                  <a16:creationId xmlns:a16="http://schemas.microsoft.com/office/drawing/2014/main" id="{90FE471D-D3D4-D13A-8349-0F42AAB37789}"/>
                </a:ext>
              </a:extLst>
            </p:cNvPr>
            <p:cNvSpPr txBox="1"/>
            <p:nvPr/>
          </p:nvSpPr>
          <p:spPr>
            <a:xfrm>
              <a:off x="1406770" y="3409333"/>
              <a:ext cx="3657599" cy="523220"/>
            </a:xfrm>
            <a:prstGeom prst="rect">
              <a:avLst/>
            </a:prstGeom>
            <a:noFill/>
          </p:spPr>
          <p:txBody>
            <a:bodyPr wrap="square" rtlCol="0">
              <a:spAutoFit/>
            </a:bodyPr>
            <a:lstStyle/>
            <a:p>
              <a:r>
                <a:rPr lang="en-US" sz="2800" b="1" dirty="0"/>
                <a:t>Stay informed</a:t>
              </a:r>
            </a:p>
          </p:txBody>
        </p:sp>
      </p:grpSp>
      <p:sp>
        <p:nvSpPr>
          <p:cNvPr id="5" name="TextBox 4">
            <a:extLst>
              <a:ext uri="{FF2B5EF4-FFF2-40B4-BE49-F238E27FC236}">
                <a16:creationId xmlns:a16="http://schemas.microsoft.com/office/drawing/2014/main" id="{ADE6D9C6-C865-F21B-08A5-E6CB47794F42}"/>
              </a:ext>
            </a:extLst>
          </p:cNvPr>
          <p:cNvSpPr txBox="1"/>
          <p:nvPr/>
        </p:nvSpPr>
        <p:spPr>
          <a:xfrm>
            <a:off x="4047417" y="4291273"/>
            <a:ext cx="5776589" cy="923330"/>
          </a:xfrm>
          <a:prstGeom prst="rect">
            <a:avLst/>
          </a:prstGeom>
          <a:noFill/>
        </p:spPr>
        <p:txBody>
          <a:bodyPr wrap="square" rtlCol="0">
            <a:spAutoFit/>
          </a:bodyPr>
          <a:lstStyle/>
          <a:p>
            <a:r>
              <a:rPr lang="en-US" dirty="0"/>
              <a:t>Visit emergency.msstate.edu</a:t>
            </a:r>
          </a:p>
          <a:p>
            <a:r>
              <a:rPr lang="en-US" dirty="0"/>
              <a:t>Follow @MaroonAlert for updates</a:t>
            </a:r>
          </a:p>
          <a:p>
            <a:r>
              <a:rPr lang="en-US" dirty="0"/>
              <a:t>Follow faculty &amp; emergency </a:t>
            </a:r>
            <a:r>
              <a:rPr lang="en-US"/>
              <a:t>personnel instructions</a:t>
            </a:r>
            <a:endParaRPr lang="en-US" dirty="0"/>
          </a:p>
        </p:txBody>
      </p:sp>
      <p:pic>
        <p:nvPicPr>
          <p:cNvPr id="7" name="Picture 6">
            <a:extLst>
              <a:ext uri="{FF2B5EF4-FFF2-40B4-BE49-F238E27FC236}">
                <a16:creationId xmlns:a16="http://schemas.microsoft.com/office/drawing/2014/main" id="{7B942CBE-3B0C-37F7-92D4-EF0EA4471131}"/>
              </a:ext>
            </a:extLst>
          </p:cNvPr>
          <p:cNvPicPr>
            <a:picLocks noChangeAspect="1"/>
          </p:cNvPicPr>
          <p:nvPr/>
        </p:nvPicPr>
        <p:blipFill>
          <a:blip r:embed="rId7"/>
          <a:stretch>
            <a:fillRect/>
          </a:stretch>
        </p:blipFill>
        <p:spPr>
          <a:xfrm>
            <a:off x="9685310" y="4838161"/>
            <a:ext cx="1662721" cy="1654714"/>
          </a:xfrm>
          <a:prstGeom prst="rect">
            <a:avLst/>
          </a:prstGeom>
        </p:spPr>
      </p:pic>
    </p:spTree>
    <p:extLst>
      <p:ext uri="{BB962C8B-B14F-4D97-AF65-F5344CB8AC3E}">
        <p14:creationId xmlns:p14="http://schemas.microsoft.com/office/powerpoint/2010/main" val="1343974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5973-C065-176A-EF32-D57DB3F40654}"/>
              </a:ext>
            </a:extLst>
          </p:cNvPr>
          <p:cNvSpPr>
            <a:spLocks noGrp="1"/>
          </p:cNvSpPr>
          <p:nvPr>
            <p:ph type="title"/>
          </p:nvPr>
        </p:nvSpPr>
        <p:spPr/>
        <p:txBody>
          <a:bodyPr/>
          <a:lstStyle/>
          <a:p>
            <a:r>
              <a:rPr lang="en-US" dirty="0"/>
              <a:t>Class structure</a:t>
            </a:r>
          </a:p>
        </p:txBody>
      </p:sp>
      <p:sp>
        <p:nvSpPr>
          <p:cNvPr id="3" name="Content Placeholder 2">
            <a:extLst>
              <a:ext uri="{FF2B5EF4-FFF2-40B4-BE49-F238E27FC236}">
                <a16:creationId xmlns:a16="http://schemas.microsoft.com/office/drawing/2014/main" id="{982EE4D8-6E7C-0822-7825-B5E92A2E4BCB}"/>
              </a:ext>
            </a:extLst>
          </p:cNvPr>
          <p:cNvSpPr>
            <a:spLocks noGrp="1"/>
          </p:cNvSpPr>
          <p:nvPr>
            <p:ph idx="1"/>
          </p:nvPr>
        </p:nvSpPr>
        <p:spPr/>
        <p:txBody>
          <a:bodyPr/>
          <a:lstStyle/>
          <a:p>
            <a:r>
              <a:rPr lang="en-US" dirty="0"/>
              <a:t>Follow the link in the chat.</a:t>
            </a:r>
          </a:p>
        </p:txBody>
      </p:sp>
    </p:spTree>
    <p:extLst>
      <p:ext uri="{BB962C8B-B14F-4D97-AF65-F5344CB8AC3E}">
        <p14:creationId xmlns:p14="http://schemas.microsoft.com/office/powerpoint/2010/main" val="193207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16AD6-E600-1CC3-36CC-564126F8EE70}"/>
              </a:ext>
            </a:extLst>
          </p:cNvPr>
          <p:cNvSpPr>
            <a:spLocks noGrp="1"/>
          </p:cNvSpPr>
          <p:nvPr>
            <p:ph type="title"/>
          </p:nvPr>
        </p:nvSpPr>
        <p:spPr/>
        <p:txBody>
          <a:bodyPr/>
          <a:lstStyle/>
          <a:p>
            <a:r>
              <a:rPr lang="en-US" dirty="0"/>
              <a:t>Introductions</a:t>
            </a:r>
          </a:p>
        </p:txBody>
      </p:sp>
      <p:pic>
        <p:nvPicPr>
          <p:cNvPr id="6" name="Picture 5">
            <a:extLst>
              <a:ext uri="{FF2B5EF4-FFF2-40B4-BE49-F238E27FC236}">
                <a16:creationId xmlns:a16="http://schemas.microsoft.com/office/drawing/2014/main" id="{B9120C2A-D8E6-3D07-F05B-A9C762150225}"/>
              </a:ext>
            </a:extLst>
          </p:cNvPr>
          <p:cNvPicPr>
            <a:picLocks noChangeAspect="1"/>
          </p:cNvPicPr>
          <p:nvPr/>
        </p:nvPicPr>
        <p:blipFill>
          <a:blip r:embed="rId2"/>
          <a:stretch>
            <a:fillRect/>
          </a:stretch>
        </p:blipFill>
        <p:spPr>
          <a:xfrm>
            <a:off x="4402601" y="-2515974"/>
            <a:ext cx="6245412" cy="9373974"/>
          </a:xfrm>
          <a:prstGeom prst="rect">
            <a:avLst/>
          </a:prstGeom>
        </p:spPr>
      </p:pic>
    </p:spTree>
    <p:extLst>
      <p:ext uri="{BB962C8B-B14F-4D97-AF65-F5344CB8AC3E}">
        <p14:creationId xmlns:p14="http://schemas.microsoft.com/office/powerpoint/2010/main" val="2533509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E55C1-29F0-6759-3534-538C99AC9170}"/>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CDD221AF-CB90-611A-C30B-477D526E1D1D}"/>
              </a:ext>
            </a:extLst>
          </p:cNvPr>
          <p:cNvSpPr>
            <a:spLocks noGrp="1"/>
          </p:cNvSpPr>
          <p:nvPr>
            <p:ph idx="1"/>
          </p:nvPr>
        </p:nvSpPr>
        <p:spPr/>
        <p:txBody>
          <a:bodyPr/>
          <a:lstStyle/>
          <a:p>
            <a:r>
              <a:rPr lang="en-US" dirty="0"/>
              <a:t>Canvas!</a:t>
            </a:r>
          </a:p>
          <a:p>
            <a:pPr lvl="1"/>
            <a:r>
              <a:rPr lang="en-US" dirty="0"/>
              <a:t>Introduction</a:t>
            </a:r>
          </a:p>
          <a:p>
            <a:pPr lvl="1"/>
            <a:r>
              <a:rPr lang="en-US" dirty="0"/>
              <a:t>Installation (</a:t>
            </a:r>
            <a:r>
              <a:rPr lang="en-US" dirty="0" err="1"/>
              <a:t>VSCode</a:t>
            </a:r>
            <a:r>
              <a:rPr lang="en-US" dirty="0"/>
              <a:t>, the </a:t>
            </a:r>
            <a:r>
              <a:rPr lang="en-US" dirty="0" err="1"/>
              <a:t>CodeChat</a:t>
            </a:r>
            <a:r>
              <a:rPr lang="en-US" dirty="0"/>
              <a:t> Editor, book)</a:t>
            </a:r>
          </a:p>
        </p:txBody>
      </p:sp>
    </p:spTree>
    <p:extLst>
      <p:ext uri="{BB962C8B-B14F-4D97-AF65-F5344CB8AC3E}">
        <p14:creationId xmlns:p14="http://schemas.microsoft.com/office/powerpoint/2010/main" val="2042866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6408</TotalTime>
  <Words>873</Words>
  <Application>Microsoft Office PowerPoint</Application>
  <PresentationFormat>Widescreen</PresentationFormat>
  <Paragraphs>83</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ECE 4793/6793 and CSE 4353/6353</vt:lpstr>
      <vt:lpstr>Goals</vt:lpstr>
      <vt:lpstr>Literate programming</vt:lpstr>
      <vt:lpstr>Literate programming</vt:lpstr>
      <vt:lpstr>PowerPoint Presentation</vt:lpstr>
      <vt:lpstr>Approach</vt:lpstr>
      <vt:lpstr>MSU Emergency Procedures: </vt:lpstr>
      <vt:lpstr>MSU Emergency Procedures: </vt:lpstr>
      <vt:lpstr>Class structure</vt:lpstr>
      <vt:lpstr>Introductions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Jones, Bryan</dc:creator>
  <cp:lastModifiedBy>Jones, Bryan</cp:lastModifiedBy>
  <cp:revision>4</cp:revision>
  <dcterms:created xsi:type="dcterms:W3CDTF">2026-08-12T19:01:53Z</dcterms:created>
  <dcterms:modified xsi:type="dcterms:W3CDTF">2026-08-19T14:46:43Z</dcterms:modified>
</cp:coreProperties>
</file>